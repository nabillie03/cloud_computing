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019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038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6057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0095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2114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41330" y="0"/>
            <a:ext cx="0" cy="6858000"/>
          </a:xfrm>
          <a:prstGeom prst="line">
            <a:avLst/>
          </a:prstGeom>
          <a:noFill/>
          <a:ln w="6350">
            <a:solidFill>
              <a:srgbClr val="161B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FF2E9A">
              <a:alpha val="1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3931920"/>
            <a:ext cx="4572000" cy="4572000"/>
          </a:xfrm>
          <a:prstGeom prst="ellipse">
            <a:avLst/>
          </a:prstGeom>
          <a:solidFill>
            <a:srgbClr val="17E9E0">
              <a:alpha val="1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31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TYPING BATTLE</a:t>
            </a:r>
            <a:endParaRPr lang="en-US" sz="5800" dirty="0"/>
          </a:p>
        </p:txBody>
      </p:sp>
      <p:sp>
        <p:nvSpPr>
          <p:cNvPr id="12" name="Shape 10"/>
          <p:cNvSpPr/>
          <p:nvPr/>
        </p:nvSpPr>
        <p:spPr>
          <a:xfrm>
            <a:off x="868680" y="3611880"/>
            <a:ext cx="3291840" cy="54864"/>
          </a:xfrm>
          <a:prstGeom prst="rect">
            <a:avLst/>
          </a:prstGeom>
          <a:solidFill>
            <a:srgbClr val="17E9E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Permainan Edukatif Real-Time untuk Pelatihan Kecepatan Mengetik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Makalah — Tugas Mata Kuliah Cloud Computing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709160"/>
            <a:ext cx="7589520" cy="1417320"/>
          </a:xfrm>
          <a:prstGeom prst="roundRect">
            <a:avLst>
              <a:gd name="adj" fmla="val 516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Nabil Ali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09160" y="4892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Jhon Hatman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Raditya Rizky Kurniawan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709160" y="5486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Jenny Maritha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0" y="5394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 — Fakultas Teknologi Informasi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Islam Kalimantan Muhammad Arsyad Al Banjari · 2025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966960" y="640080"/>
            <a:ext cx="1005840" cy="100584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8478" y="901598"/>
            <a:ext cx="482803" cy="4828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Latar Belakang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Kecepatan dan akurasi mengetik (WPM) adalah keterampilan fundamental di era digital, namun proses latihannya sering dianggap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 dan membosankan.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6492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gamifikasi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terbukti efektif mengatasi kejenuhan tersebut sekaligus meningkatkan motivasi pengguna.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6492240" cy="1554480"/>
          </a:xfrm>
          <a:prstGeom prst="roundRect">
            <a:avLst>
              <a:gd name="adj" fmla="val 4706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617720"/>
            <a:ext cx="822960" cy="82296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4831690"/>
            <a:ext cx="395021" cy="39502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874520" y="45720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"Typing Battle"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dikembangkan sebagai aplikasi permainan edukatif berbasis web yang menguji kecepatan serta akurasi mengetik pemain melalui arena kompetitif secara real-time.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452360" y="1737360"/>
            <a:ext cx="4160520" cy="4160520"/>
          </a:xfrm>
          <a:prstGeom prst="roundRect">
            <a:avLst>
              <a:gd name="adj" fmla="val 2198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052560" y="2103120"/>
            <a:ext cx="1005840" cy="100584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4078" y="236463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680960" y="33375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9FF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WPM</a:t>
            </a:r>
            <a:endParaRPr lang="en-US" sz="4400" dirty="0"/>
          </a:p>
        </p:txBody>
      </p:sp>
      <p:sp>
        <p:nvSpPr>
          <p:cNvPr id="19" name="Text 15"/>
          <p:cNvSpPr/>
          <p:nvPr/>
        </p:nvSpPr>
        <p:spPr>
          <a:xfrm>
            <a:off x="7680960" y="40233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Minute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818120" y="457200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utama kecepatan &amp; akurasi yang diukur dan direkam secara real-time.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· PENDAHULUAN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Tujuan Pengembangan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2168042"/>
            <a:ext cx="373075" cy="37307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Interaktif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platform pelatihan mengetik yang menggabungkan hiburan dan kompetisi.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1965960"/>
            <a:ext cx="777240" cy="77724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2168042"/>
            <a:ext cx="373075" cy="3730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Real-Time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57200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komunikasi full-duplex berlatensi rendah via WebSocket untuk multiplayer.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46720" y="1691640"/>
            <a:ext cx="3474720" cy="2514600"/>
          </a:xfrm>
          <a:prstGeom prst="roundRect">
            <a:avLst>
              <a:gd name="adj" fmla="val 3636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21040" y="1965960"/>
            <a:ext cx="777240" cy="77724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2168042"/>
            <a:ext cx="373075" cy="3730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2104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Dasbor Analitik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21040" y="3337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Mengembangkan dasbor statistik performa pemain: WPM, akurasi, hingga penggunaan backspace.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2960" y="4709160"/>
            <a:ext cx="914400" cy="91440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946904"/>
            <a:ext cx="438912" cy="4389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965960" y="45720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 Lingkup Sistem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965960" y="493776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klien (Vanilla JavaScript, HTML, CSS3) · Server permainan real-time (Node.js) · Basis data relasional (MySQL) yang terintegrasi dengan dasbor statistik berbasis PHP.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ARSITEKTUR SISTEM DAN TEKNOLOGI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Arsitektur Client-Server Hibrida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logika permainan real-time dengan manajemen data persisten.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423160"/>
            <a:ext cx="822960" cy="82296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637130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2296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2296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· HTML5 · CSS3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296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Cyberpunk/Dark Arcade, animasi CSS keyframes, efek suara via Web Audio API.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434840" y="214884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2423160"/>
            <a:ext cx="822960" cy="82296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130" y="2637130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70916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Server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70916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WebSocket (ws)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70916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full-duplex, menangani siklus permainan &amp; broadcast status lobi.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321040" y="2148840"/>
            <a:ext cx="3337560" cy="3566160"/>
          </a:xfrm>
          <a:prstGeom prst="roundRect">
            <a:avLst>
              <a:gd name="adj" fmla="val 2740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95360" y="2423160"/>
            <a:ext cx="822960" cy="82296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330" y="2637130"/>
            <a:ext cx="395021" cy="39502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595360" y="3383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Data &amp; Dashboard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595360" y="3794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PHP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595360" y="420624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tabel relasional + dasbor statistik 'Cyber Stats Arena' dengan API AJAX.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3886200" y="3931920"/>
            <a:ext cx="548640" cy="0"/>
          </a:xfrm>
          <a:prstGeom prst="line">
            <a:avLst/>
          </a:prstGeom>
          <a:noFill/>
          <a:ln w="25400">
            <a:solidFill>
              <a:srgbClr val="17E9E0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772400" y="3931920"/>
            <a:ext cx="548640" cy="0"/>
          </a:xfrm>
          <a:prstGeom prst="line">
            <a:avLst/>
          </a:prstGeom>
          <a:noFill/>
          <a:ln w="25400">
            <a:solidFill>
              <a:srgbClr val="FF2E9A"/>
            </a:solidFill>
            <a:prstDash val="solid"/>
            <a:tailEnd type="triangle"/>
          </a:ln>
        </p:spPr>
      </p:sp>
      <p:sp>
        <p:nvSpPr>
          <p:cNvPr id="30" name="Text 25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2.1 TEKNOLOGI FRONT-END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Antarmuka Sisi Klien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Dibangun murni menggunakan </a:t>
            </a:r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JavaScript, HTML5, dan CSS3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tanpa framework tambahan.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685800" cy="68580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78434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5877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Cyberpunk / Dark Arcade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417320" y="295351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 warna neon: Orange, Cyan, Pink, dan Green.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685800" cy="68580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83590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17320" y="36393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Animasi CSS Keyframes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417320" y="400507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 latar 'nebula' dan grid 3D yang terus bergerak.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8874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320" y="469087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API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417320" y="50566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efek suara langsung di peramban: benar, salah, hitung mundur, selesai.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452360" y="1691640"/>
            <a:ext cx="4160520" cy="4206240"/>
          </a:xfrm>
          <a:prstGeom prst="roundRect">
            <a:avLst>
              <a:gd name="adj" fmla="val 2198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77240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 WARNA NEON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7772400" y="242316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9F1C"/>
          </a:solidFill>
          <a:ln/>
        </p:spPr>
      </p:sp>
      <p:sp>
        <p:nvSpPr>
          <p:cNvPr id="25" name="Text 20"/>
          <p:cNvSpPr/>
          <p:nvPr/>
        </p:nvSpPr>
        <p:spPr>
          <a:xfrm>
            <a:off x="8549640" y="2423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772400" y="320040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17E9E0"/>
          </a:solidFill>
          <a:ln/>
        </p:spPr>
      </p:sp>
      <p:sp>
        <p:nvSpPr>
          <p:cNvPr id="27" name="Text 22"/>
          <p:cNvSpPr/>
          <p:nvPr/>
        </p:nvSpPr>
        <p:spPr>
          <a:xfrm>
            <a:off x="85496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7772400" y="397764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FF2E9A"/>
          </a:solidFill>
          <a:ln/>
        </p:spPr>
      </p:sp>
      <p:sp>
        <p:nvSpPr>
          <p:cNvPr id="29" name="Text 24"/>
          <p:cNvSpPr/>
          <p:nvPr/>
        </p:nvSpPr>
        <p:spPr>
          <a:xfrm>
            <a:off x="85496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7772400" y="4754880"/>
            <a:ext cx="640080" cy="502920"/>
          </a:xfrm>
          <a:prstGeom prst="roundRect">
            <a:avLst>
              <a:gd name="adj" fmla="val 10909"/>
            </a:avLst>
          </a:prstGeom>
          <a:solidFill>
            <a:srgbClr val="39FF88"/>
          </a:solidFill>
          <a:ln/>
        </p:spPr>
      </p:sp>
      <p:sp>
        <p:nvSpPr>
          <p:cNvPr id="31" name="Text 26"/>
          <p:cNvSpPr/>
          <p:nvPr/>
        </p:nvSpPr>
        <p:spPr>
          <a:xfrm>
            <a:off x="854964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2.2 GAME SERVER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Back-End: Node.js &amp; WebSocket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6492240" cy="4206240"/>
          </a:xfrm>
          <a:prstGeom prst="roundRect">
            <a:avLst>
              <a:gd name="adj" fmla="val 217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79930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Pustaka ws untuk protokol WebSocket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2788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full-duplex antara klien dan server tanpa overhead seperti pada HTTP konvensional.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68680" y="37490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Pertukaran pesan menggunakan format JSON dengan tipe muatan (payload) spesifik.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8680" y="47091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●"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menangani siklus permainan dan secara konstan menyiarkan (broadcast) status terkini ke seluruh klien di dalam lobi.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315200" y="1691640"/>
            <a:ext cx="4297680" cy="4206240"/>
          </a:xfrm>
          <a:prstGeom prst="roundRect">
            <a:avLst>
              <a:gd name="adj" fmla="val 217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80960" y="2286000"/>
            <a:ext cx="914400" cy="91440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8704" y="2523744"/>
            <a:ext cx="438912" cy="43891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10058400" y="2286000"/>
            <a:ext cx="914400" cy="91440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4" y="252374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45236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82980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595360" y="2606040"/>
            <a:ext cx="1463040" cy="0"/>
          </a:xfrm>
          <a:prstGeom prst="line">
            <a:avLst/>
          </a:prstGeom>
          <a:noFill/>
          <a:ln w="25400">
            <a:solidFill>
              <a:srgbClr val="39FF8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8595360" y="2880360"/>
            <a:ext cx="1463040" cy="0"/>
          </a:xfrm>
          <a:prstGeom prst="line">
            <a:avLst/>
          </a:prstGeom>
          <a:noFill/>
          <a:ln w="25400">
            <a:solidFill>
              <a:srgbClr val="39FF88"/>
            </a:solidFill>
            <a:prstDash val="solid"/>
            <a:headEnd type="triangle"/>
          </a:ln>
        </p:spPr>
      </p:sp>
      <p:sp>
        <p:nvSpPr>
          <p:cNvPr id="25" name="Text 20"/>
          <p:cNvSpPr/>
          <p:nvPr/>
        </p:nvSpPr>
        <p:spPr>
          <a:xfrm>
            <a:off x="7589520" y="3749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Full-Duplex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589520" y="4434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dikirim &amp; diterima secara bersamaan tanpa menunggu giliran, mendukung sinkronisasi progres pemain secara instan.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· 2.3 BASIS DATA &amp; 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Struktur Basis Data MySQL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1 — Tiga tabel relasional inti sistem Typing Battle.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167128"/>
            <a:ext cx="822960" cy="82296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381098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783080" y="2075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783080" y="24963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Identitas &amp; statistik agregat pemain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852160" y="1965960"/>
            <a:ext cx="5532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username · best_wpm · total_matches · total_wins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3584448"/>
            <a:ext cx="822960" cy="82296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210" y="3798418"/>
            <a:ext cx="395021" cy="395021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83080" y="34930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783080" y="3913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sesi pertandingan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852160" y="3383280"/>
            <a:ext cx="5532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· winner_id · created_at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7240" y="5001768"/>
            <a:ext cx="822960" cy="82296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10" y="5215738"/>
            <a:ext cx="395021" cy="39502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83080" y="49103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match_players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1783080" y="53309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Rekam jejak partisipan per pertandingan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852160" y="4800600"/>
            <a:ext cx="5532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match_id · player_id · wpm · errors · backspaces · accuracy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3.2 KOMUNIKASI WEBSOCKET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Spesifikasi Payload WebSocket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solidFill>
            <a:srgbClr val="1A1F4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97880" y="15087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DESKRIPSI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11064240" cy="621792"/>
          </a:xfrm>
          <a:prstGeom prst="rect">
            <a:avLst/>
          </a:prstGeom>
          <a:solidFill>
            <a:srgbClr val="12163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96596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19659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→ Server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97880" y="196596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Mendaftarkan username/callsign pemain ke lobi.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258775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READY_TOGGLE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258775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→ Server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97880" y="258775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Mengubah status siap (ready) pemain sebelum mulai.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09544"/>
            <a:ext cx="11064240" cy="621792"/>
          </a:xfrm>
          <a:prstGeom prst="rect">
            <a:avLst/>
          </a:prstGeom>
          <a:solidFill>
            <a:srgbClr val="12163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209544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11880" y="3209544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→ Server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97880" y="3209544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progres ketikan (benar, error, backspace).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3831336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START_GAME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11880" y="3831336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Klien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97880" y="3831336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Menyiarkan teks soal yang harus diketik bersamaan.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4453128"/>
            <a:ext cx="11064240" cy="621792"/>
          </a:xfrm>
          <a:prstGeom prst="rect">
            <a:avLst/>
          </a:prstGeom>
          <a:solidFill>
            <a:srgbClr val="121631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4531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GAME_STATE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11880" y="445312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Klien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897880" y="4453128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Menyiarkan progres (0–99%) dan Live WPM semua pemain.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507492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611880" y="507492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Klien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97880" y="5074920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Menyiarkan sisa waktu hitung mundur (maks. 60 detik).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696712"/>
            <a:ext cx="11064240" cy="621792"/>
          </a:xfrm>
          <a:prstGeom prst="rect">
            <a:avLst/>
          </a:prstGeom>
          <a:solidFill>
            <a:srgbClr val="121631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5696712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GAME_OVER_STATS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611880" y="5696712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Klien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97880" y="5696712"/>
            <a:ext cx="5577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hasil akhir: klasemen, WPM, dan Error Rate.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3.1 IMPLEMENTASI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Antarmuka Utama &amp; Mode Permainan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disambut antarmuka bertema cyberpunk dengan status konektivitas server WebSocket di bagian bawah layar, dan wajib memasukkan 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callsign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sebelum memilih mode permainan.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3108960"/>
            <a:ext cx="1005840" cy="100584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" y="3370478"/>
            <a:ext cx="482803" cy="48280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Solo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4754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sepenuhnya lokal di sisi klien untuk latihan mandiri tanpa koneksi server.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26480" y="2788920"/>
            <a:ext cx="5212080" cy="3108960"/>
          </a:xfrm>
          <a:prstGeom prst="roundRect">
            <a:avLst>
              <a:gd name="adj" fmla="val 294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3108960"/>
            <a:ext cx="1005840" cy="100584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038" y="3370478"/>
            <a:ext cx="482803" cy="48280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46520" y="4251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Game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46520" y="4754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Mengirim payload JOIN ke server Node.js untuk memasuki lobi multiplayer.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3.2 IMPLEMENTASI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Sistem Lobi &amp; Sinkronisasi Real-Time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34210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1783080"/>
            <a:ext cx="9509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bisnis absolut: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permainan hanya dapat dimulai jika terdapat minimal dua pemain di lobi dan seluruh pemain telah mengubah status menjadi siap (READY_TOGGLE).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502920" cy="502920"/>
          </a:xfrm>
          <a:prstGeom prst="ellipse">
            <a:avLst/>
          </a:prstGeom>
          <a:solidFill>
            <a:srgbClr val="17E9E0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114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Pemain Bergabung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11480" y="4434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 mengirim JOIN, server mendata entitas klien di lobi.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97280" y="3630168"/>
            <a:ext cx="2148840" cy="0"/>
          </a:xfrm>
          <a:prstGeom prst="line">
            <a:avLst/>
          </a:prstGeom>
          <a:noFill/>
          <a:ln w="19050">
            <a:solidFill>
              <a:srgbClr val="3A4080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3291840" y="3383280"/>
            <a:ext cx="502920" cy="502920"/>
          </a:xfrm>
          <a:prstGeom prst="ellipse">
            <a:avLst/>
          </a:prstGeom>
          <a:solidFill>
            <a:srgbClr val="17E9E0"/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1546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Siap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154680" y="4434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pemain mengirim READY_TOGGLE hingga semua siap.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840480" y="3630168"/>
            <a:ext cx="2148840" cy="0"/>
          </a:xfrm>
          <a:prstGeom prst="line">
            <a:avLst/>
          </a:prstGeom>
          <a:noFill/>
          <a:ln w="19050">
            <a:solidFill>
              <a:srgbClr val="3A4080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6035040" y="3383280"/>
            <a:ext cx="502920" cy="502920"/>
          </a:xfrm>
          <a:prstGeom prst="ellipse">
            <a:avLst/>
          </a:prstGeom>
          <a:solidFill>
            <a:srgbClr val="17E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8978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Mulai Permainan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897880" y="4434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broadcast START_GAME berisi teks yang identik ke semua pemain.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583680" y="3630168"/>
            <a:ext cx="2148840" cy="0"/>
          </a:xfrm>
          <a:prstGeom prst="line">
            <a:avLst/>
          </a:prstGeom>
          <a:noFill/>
          <a:ln w="19050">
            <a:solidFill>
              <a:srgbClr val="3A4080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8778240" y="3383280"/>
            <a:ext cx="502920" cy="502920"/>
          </a:xfrm>
          <a:prstGeom prst="ellipse">
            <a:avLst/>
          </a:prstGeom>
          <a:solidFill>
            <a:srgbClr val="17E9E0"/>
          </a:solidFill>
          <a:ln/>
        </p:spPr>
      </p:sp>
      <p:sp>
        <p:nvSpPr>
          <p:cNvPr id="29" name="Text 26"/>
          <p:cNvSpPr/>
          <p:nvPr/>
        </p:nvSpPr>
        <p:spPr>
          <a:xfrm>
            <a:off x="8778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E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641080" y="4023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Mundur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641080" y="44348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countdown sebelum sesi mengetik dimulai.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3.3 IMPLEMENTASI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Arena Pertarungan &amp; Kalkulasi Performa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berlangsung maksimal 60 detik, diatur melalui payload TIMER dari server.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11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KALKULASI WPM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(karakter_benar ÷ 5) ÷ (waktu_berjalan_detik ÷ 60)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real-time, dikirim berkala bersama akumulasi error &amp; backspace via pesan INPUT.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828800"/>
            <a:ext cx="5623560" cy="1965960"/>
          </a:xfrm>
          <a:prstGeom prst="roundRect">
            <a:avLst>
              <a:gd name="adj" fmla="val 465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057400"/>
            <a:ext cx="685800" cy="68580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1948" y="2235708"/>
            <a:ext cx="329184" cy="32918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08660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Umpan Balik Visual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2606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Ketikan salah memicu teks berubah merah/pink, animasi layar bergetar (shake), serta efek suara kesalahan dari Web Audio API.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97764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42" y="4408322"/>
            <a:ext cx="373075" cy="3730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 Lawan Secara Live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828800" y="46177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Melalui pesan GAME_STATE, pemain melihat progress bar lawan diperbarui langsung dari 0% hingga 99%, menciptakan tensi kompetisi nyata.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758952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8778240" y="425196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A1F45"/>
          </a:solidFill>
          <a:ln/>
        </p:spPr>
      </p:sp>
      <p:sp>
        <p:nvSpPr>
          <p:cNvPr id="26" name="Shape 22"/>
          <p:cNvSpPr/>
          <p:nvPr/>
        </p:nvSpPr>
        <p:spPr>
          <a:xfrm>
            <a:off x="8778240" y="4251960"/>
            <a:ext cx="2174443" cy="256032"/>
          </a:xfrm>
          <a:prstGeom prst="roundRect">
            <a:avLst>
              <a:gd name="adj" fmla="val 17857"/>
            </a:avLst>
          </a:prstGeom>
          <a:solidFill>
            <a:srgbClr val="39FF88"/>
          </a:solidFill>
          <a:ln/>
        </p:spPr>
      </p:sp>
      <p:sp>
        <p:nvSpPr>
          <p:cNvPr id="27" name="Text 23"/>
          <p:cNvSpPr/>
          <p:nvPr/>
        </p:nvSpPr>
        <p:spPr>
          <a:xfrm>
            <a:off x="7589520" y="4663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Lawan 1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778240" y="470916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A1F45"/>
          </a:solidFill>
          <a:ln/>
        </p:spPr>
      </p:sp>
      <p:sp>
        <p:nvSpPr>
          <p:cNvPr id="29" name="Shape 25"/>
          <p:cNvSpPr/>
          <p:nvPr/>
        </p:nvSpPr>
        <p:spPr>
          <a:xfrm>
            <a:off x="8778240" y="4709160"/>
            <a:ext cx="1458468" cy="256032"/>
          </a:xfrm>
          <a:prstGeom prst="roundRect">
            <a:avLst>
              <a:gd name="adj" fmla="val 17857"/>
            </a:avLst>
          </a:prstGeom>
          <a:solidFill>
            <a:srgbClr val="FF2E9A"/>
          </a:solidFill>
          <a:ln/>
        </p:spPr>
      </p:sp>
      <p:sp>
        <p:nvSpPr>
          <p:cNvPr id="30" name="Text 26"/>
          <p:cNvSpPr/>
          <p:nvPr/>
        </p:nvSpPr>
        <p:spPr>
          <a:xfrm>
            <a:off x="758952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Lawan 2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8778240" y="5166360"/>
            <a:ext cx="2651760" cy="256032"/>
          </a:xfrm>
          <a:prstGeom prst="roundRect">
            <a:avLst>
              <a:gd name="adj" fmla="val 17857"/>
            </a:avLst>
          </a:prstGeom>
          <a:solidFill>
            <a:srgbClr val="1A1F45"/>
          </a:solidFill>
          <a:ln/>
        </p:spPr>
      </p:sp>
      <p:sp>
        <p:nvSpPr>
          <p:cNvPr id="32" name="Shape 28"/>
          <p:cNvSpPr/>
          <p:nvPr/>
        </p:nvSpPr>
        <p:spPr>
          <a:xfrm>
            <a:off x="8778240" y="5166360"/>
            <a:ext cx="1007669" cy="256032"/>
          </a:xfrm>
          <a:prstGeom prst="roundRect">
            <a:avLst>
              <a:gd name="adj" fmla="val 17857"/>
            </a:avLst>
          </a:prstGeom>
          <a:solidFill>
            <a:srgbClr val="FF9F1C"/>
          </a:solidFill>
          <a:ln/>
        </p:spPr>
      </p:sp>
      <p:sp>
        <p:nvSpPr>
          <p:cNvPr id="33" name="Text 29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· 3.4–3.5 IMPLEMENTASI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Papan Skor &amp; Dashboard Statistik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20240"/>
            <a:ext cx="822960" cy="82296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2134210"/>
            <a:ext cx="395021" cy="39502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Over — GAME_OVER_STATS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269748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mengkalkulasi hasil akhir dan mendistribusikan JSON yang di-parsing klien untuk menampilkan klasemen: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3375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Peringkat &amp; Nama Pemain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372160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Skor &amp; Rata-rata WPM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41056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WPM Tertinggi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448970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●"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(persentase kesalahan)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5394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direkam permanen ke MySQL oleh Node.js.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20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1920240"/>
            <a:ext cx="822960" cy="82296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90" y="2134210"/>
            <a:ext cx="395021" cy="395021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452360" y="1965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Stats Arena (PHP)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446520" y="2697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SQL kompleks menyajikan analitik: Total Pemain, Rekor WPM tertinggi, dan Papan Peringkat Global.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46520" y="3566160"/>
            <a:ext cx="640080" cy="64008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3732581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269480" y="36118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"Recent Matches" mengungkap kebiasaan pengetikan pemain, termasuk penggunaan tombol Backspace.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6446520" y="4526280"/>
            <a:ext cx="640080" cy="640080"/>
          </a:xfrm>
          <a:prstGeom prst="ellipse">
            <a:avLst/>
          </a:prstGeom>
          <a:solidFill>
            <a:srgbClr val="39FF88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941" y="4692701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69480" y="4572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statistik berbasis AJAX (api_stats.php) tanpa memuat ulang halaman.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-1828800"/>
            <a:ext cx="4572000" cy="4572000"/>
          </a:xfrm>
          <a:prstGeom prst="ellipse">
            <a:avLst/>
          </a:prstGeom>
          <a:solidFill>
            <a:srgbClr val="39FF88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PENUTUP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Kesimpulan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WebSocket, dan PHP-MySQL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terbukti mampu menghasilkan ekosistem permainan interaktif yang handal.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108960"/>
            <a:ext cx="777240" cy="77724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3311042"/>
            <a:ext cx="373075" cy="373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Latensi Tereliminasi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296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full-duplex berhasil menampilkan progres lawan secara sinkron.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97680" y="28346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0" y="3108960"/>
            <a:ext cx="777240" cy="77724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3311042"/>
            <a:ext cx="373075" cy="373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Reaktif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457200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Dipadukan dengan gamifikasi untuk pengalaman yang memikat.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8046720" y="283464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321040" y="3108960"/>
            <a:ext cx="777240" cy="777240"/>
          </a:xfrm>
          <a:prstGeom prst="ellipse">
            <a:avLst/>
          </a:prstGeom>
          <a:solidFill>
            <a:srgbClr val="FF9F1C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3311042"/>
            <a:ext cx="373075" cy="373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21040" y="4023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Komprehensif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8321040" y="4480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Perekaman data terstruktur dalam skema basis data tiga tabel.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nilai tambah signifikan dibandingkan perangkat lunak pelatihan mengetik konvensional.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61520" cy="0"/>
          </a:xfrm>
          <a:prstGeom prst="line">
            <a:avLst/>
          </a:prstGeom>
          <a:noFill/>
          <a:ln w="6350">
            <a:solidFill>
              <a:srgbClr val="1D24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F2E9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84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· PENUTUP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Saran Pengembangan Lanjutan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240280"/>
            <a:ext cx="1051560" cy="1051560"/>
          </a:xfrm>
          <a:prstGeom prst="ellipse">
            <a:avLst/>
          </a:prstGeom>
          <a:solidFill>
            <a:srgbClr val="17E9E0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2086" y="2513686"/>
            <a:ext cx="504749" cy="50474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E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Pengguna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868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sistem login/register yang lebih aman dengan kata sandi berlapis hash.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126480" y="1920240"/>
            <a:ext cx="5212080" cy="3291840"/>
          </a:xfrm>
          <a:prstGeom prst="roundRect">
            <a:avLst>
              <a:gd name="adj" fmla="val 2778"/>
            </a:avLst>
          </a:prstGeom>
          <a:solidFill>
            <a:srgbClr val="121631"/>
          </a:solidFill>
          <a:ln w="12700">
            <a:solidFill>
              <a:srgbClr val="2429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6520" y="2240280"/>
            <a:ext cx="1051560" cy="1051560"/>
          </a:xfrm>
          <a:prstGeom prst="ellipse">
            <a:avLst/>
          </a:prstGeom>
          <a:solidFill>
            <a:srgbClr val="FF2E9A"/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926" y="2513686"/>
            <a:ext cx="504749" cy="50474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46520" y="3520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2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Room Dinamis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46520" y="40690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Memungkinkan lebih dari satu sesi multiplayer berjalan bersamaan di dalam server.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3C9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Terima Kasih — Kelompok 5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124712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Typing Battle</dc:title>
  <dc:subject>PptxGenJS Presentation</dc:subject>
  <dc:creator>Kelompok 5</dc:creator>
  <cp:lastModifiedBy>Kelompok 5</cp:lastModifiedBy>
  <cp:revision>1</cp:revision>
  <dcterms:created xsi:type="dcterms:W3CDTF">2026-07-05T09:14:01Z</dcterms:created>
  <dcterms:modified xsi:type="dcterms:W3CDTF">2026-07-05T09:14:01Z</dcterms:modified>
</cp:coreProperties>
</file>